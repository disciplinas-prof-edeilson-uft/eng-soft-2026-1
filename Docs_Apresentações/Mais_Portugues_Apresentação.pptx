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 SemiBold"/>
      <p:regular r:id="rId201314"/>
    </p:embeddedFont>
    <p:embeddedFont>
      <p:font typeface="Barlow Thin"/>
      <p:regular r:id="rId201315"/>
    </p:embeddedFont>
    <p:embeddedFont>
      <p:font typeface="Barlow ExtraLight"/>
      <p:regular r:id="rId201316"/>
    </p:embeddedFont>
    <p:embeddedFont>
      <p:font typeface="Barlow Light"/>
      <p:regular r:id="rId201317"/>
    </p:embeddedFont>
    <p:embeddedFont>
      <p:font typeface="Barlow"/>
      <p:regular r:id="rId201318"/>
    </p:embeddedFont>
    <p:embeddedFont>
      <p:font typeface="Barlow Medium"/>
      <p:regular r:id="rId201319"/>
    </p:embeddedFont>
    <p:embeddedFont>
      <p:font typeface="Barlow Bold"/>
      <p:regular r:id="rId201320"/>
    </p:embeddedFont>
    <p:embeddedFont>
      <p:font typeface="Barlow ExtraBold"/>
      <p:regular r:id="rId201321"/>
    </p:embeddedFont>
    <p:embeddedFont>
      <p:font typeface="Barlow Black"/>
      <p:regular r:id="rId201322"/>
    </p:embeddedFont>
    <p:embeddedFont>
      <p:font typeface="Spline Sans Medium"/>
      <p:regular r:id="rId201323"/>
    </p:embeddedFont>
    <p:embeddedFont>
      <p:font typeface="Spline Sans SemiBold"/>
      <p:regular r:id="rId201324"/>
    </p:embeddedFont>
    <p:embeddedFont>
      <p:font typeface="Spline Sans Bold"/>
      <p:regular r:id="rId201325"/>
    </p:embeddedFont>
    <p:embeddedFont>
      <p:font typeface="Spline Sans Light"/>
      <p:regular r:id="rId201326"/>
    </p:embeddedFont>
    <p:embeddedFont>
      <p:font typeface="Spline Sans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1180902"/>
            <a:ext cx="5271757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+Português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734200" y="2078236"/>
            <a:ext cx="6151409" cy="1608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Gerenciador de Questões</a:t>
            </a:r>
            <a:endParaRPr lang="en-US" sz="5050" dirty="0"/>
          </a:p>
        </p:txBody>
      </p:sp>
      <p:sp>
        <p:nvSpPr>
          <p:cNvPr id="5" name="Text 2"/>
          <p:cNvSpPr/>
          <p:nvPr/>
        </p:nvSpPr>
        <p:spPr>
          <a:xfrm>
            <a:off x="734200" y="4001393"/>
            <a:ext cx="6151409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Aplicação PHP MVC para professores criarem, organizarem e reutilizarem questões objetivas e dissertativas — com autenticação, upload de imagens e isolamento de dados por usuário.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734200" y="5263654"/>
            <a:ext cx="888382" cy="394395"/>
          </a:xfrm>
          <a:prstGeom prst="roundRect">
            <a:avLst>
              <a:gd name="adj" fmla="val 63834"/>
            </a:avLst>
          </a:prstGeom>
          <a:solidFill>
            <a:srgbClr val="004D36"/>
          </a:solidFill>
          <a:ln/>
        </p:spPr>
      </p:sp>
      <p:sp>
        <p:nvSpPr>
          <p:cNvPr id="7" name="Text 4"/>
          <p:cNvSpPr/>
          <p:nvPr/>
        </p:nvSpPr>
        <p:spPr>
          <a:xfrm>
            <a:off x="860007" y="5326559"/>
            <a:ext cx="1246355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PHP 7.4+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727454" y="5244604"/>
            <a:ext cx="792738" cy="432495"/>
          </a:xfrm>
          <a:prstGeom prst="roundRect">
            <a:avLst>
              <a:gd name="adj" fmla="val 58211"/>
            </a:avLst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72310" y="5326559"/>
            <a:ext cx="1112611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MYSQL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625064" y="5244604"/>
            <a:ext cx="606707" cy="432495"/>
          </a:xfrm>
          <a:prstGeom prst="roundRect">
            <a:avLst>
              <a:gd name="adj" fmla="val 58211"/>
            </a:avLst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69920" y="5326559"/>
            <a:ext cx="926581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MVC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36643" y="5244604"/>
            <a:ext cx="809009" cy="432495"/>
          </a:xfrm>
          <a:prstGeom prst="roundRect">
            <a:avLst>
              <a:gd name="adj" fmla="val 58211"/>
            </a:avLst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81499" y="5326559"/>
            <a:ext cx="1128883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XAMPP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300" y="635000"/>
            <a:ext cx="4268284" cy="43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 Que É o +Português?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300" y="1381820"/>
            <a:ext cx="5126703" cy="38458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60022" y="2864148"/>
            <a:ext cx="3503624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</a:t>
            </a:r>
            <a:pPr algn="l" indent="0" marL="0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+Português</a:t>
            </a:r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é um sistema web desenvolvido em </a:t>
            </a:r>
            <a:pPr algn="l" indent="0" marL="0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PHP com arquitetura MVC</a:t>
            </a:r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voltado para professores que precisam gerenciar bancos de questões de forma eficiente.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333" y="5498009"/>
            <a:ext cx="235936" cy="2359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45561" y="5493147"/>
            <a:ext cx="1748290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Criar questões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245561" y="5782370"/>
            <a:ext cx="2964781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Objetivas e dissertativas com upload de imagens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6811" y="5498009"/>
            <a:ext cx="235936" cy="23594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69038" y="5493147"/>
            <a:ext cx="1748290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Organizar e filtrar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869038" y="5782370"/>
            <a:ext cx="2964781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Por tipo, status, gênero e subgênero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40288" y="5498009"/>
            <a:ext cx="235936" cy="2359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492516" y="5493147"/>
            <a:ext cx="1748290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Reutilizar conteúdo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8492516" y="5782370"/>
            <a:ext cx="2964781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Cada usuário acessa apenas suas próprias questões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1048544"/>
            <a:ext cx="6683406" cy="54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Por Que Este Projeto Importa?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734200" y="1868587"/>
            <a:ext cx="2983929" cy="2330946"/>
          </a:xfrm>
          <a:prstGeom prst="roundRect">
            <a:avLst>
              <a:gd name="adj" fmla="val 12625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49400" y="2083792"/>
            <a:ext cx="2179881" cy="272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🎓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Aprendizado Real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49400" y="2466280"/>
            <a:ext cx="2553529" cy="1518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Projeto colaborativo com 7 contribuidores, 54 commits e 26 branches — simulando um ambiente de desenvolvimento profissional.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901581" y="1868587"/>
            <a:ext cx="2984028" cy="2330946"/>
          </a:xfrm>
          <a:prstGeom prst="roundRect">
            <a:avLst>
              <a:gd name="adj" fmla="val 12625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6781" y="2083792"/>
            <a:ext cx="2371368" cy="272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Segurança Aplicada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116781" y="2466280"/>
            <a:ext cx="2553628" cy="1233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Senhas com </a:t>
            </a:r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</a:t>
            </a:r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prepared statements e sessões com </a:t>
            </a:r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httponly</a:t>
            </a:r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 </a:t>
            </a:r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samesite=Lax</a:t>
            </a:r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4200" y="4382988"/>
            <a:ext cx="6151409" cy="1426468"/>
          </a:xfrm>
          <a:prstGeom prst="roundRect">
            <a:avLst>
              <a:gd name="adj" fmla="val 20631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9400" y="4598194"/>
            <a:ext cx="2188116" cy="272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Arquitetura Sólida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49400" y="4980682"/>
            <a:ext cx="5721008" cy="613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API pública centralizada em </a:t>
            </a:r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api.php</a:t>
            </a:r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separação clara de responsabilidades e isolamento de dados por usuário.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300" y="2188369"/>
            <a:ext cx="3639947" cy="37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Stack Tecnológico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4300" y="2744291"/>
            <a:ext cx="340907" cy="3409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300" y="3195935"/>
            <a:ext cx="151513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PHP 7.4+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34300" y="3438426"/>
            <a:ext cx="530618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Backend com MySQLi OOP e prepared statements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1210" y="2744291"/>
            <a:ext cx="340907" cy="3409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51210" y="3195935"/>
            <a:ext cx="151513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MySQL / MariaDB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151210" y="3438426"/>
            <a:ext cx="530618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Banco relacional com tabelas: 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usuarios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questoes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 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alternativas_objetivas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300" y="3795514"/>
            <a:ext cx="340907" cy="3409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4300" y="4247158"/>
            <a:ext cx="151513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HTML, CSS, JS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734300" y="4489648"/>
            <a:ext cx="530618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Frontend vanilla sem frameworks — foco em fundamentos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1210" y="3795514"/>
            <a:ext cx="340907" cy="3409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1210" y="4247158"/>
            <a:ext cx="151513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XAMPP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6151210" y="4489648"/>
            <a:ext cx="530618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Ambiente local com Apache e MySQL integrados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300" y="1384995"/>
            <a:ext cx="3639947" cy="37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Estrutura do Projeto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300" y="1996380"/>
            <a:ext cx="3376826" cy="33769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68484" y="2933204"/>
            <a:ext cx="212471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Organização MVC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268484" y="3211116"/>
            <a:ext cx="5804846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projeto segue o padrão </a:t>
            </a:r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Model-View-Controller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separando claramente: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268484" y="3470771"/>
            <a:ext cx="5195261" cy="1023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public/</a:t>
            </a:r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ponto de entrada e arquivos estáticos</a:t>
            </a:r>
            <a:endParaRPr lang="en-US" sz="105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app/controllers/</a:t>
            </a:r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lógica de negócio</a:t>
            </a:r>
            <a:endParaRPr lang="en-US" sz="105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app/models/</a:t>
            </a:r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acesso ao banco de dados</a:t>
            </a:r>
            <a:endParaRPr lang="en-US" sz="105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app/views/</a:t>
            </a:r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renderização HTML</a:t>
            </a:r>
            <a:endParaRPr lang="en-US" sz="105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app/routes/</a:t>
            </a:r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mapeamento de URLs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300" y="2187377"/>
            <a:ext cx="4442904" cy="37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Funcionalidades Principais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5250" y="2743299"/>
            <a:ext cx="5336248" cy="9193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6821" y="2898676"/>
            <a:ext cx="1892451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🔐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Autenticação Completa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946821" y="3147516"/>
            <a:ext cx="4949304" cy="35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Cadastro, login e logout com sessões PHP seguras. Cookie configurado com 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httponly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 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samesite=Lax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1048" y="2743299"/>
            <a:ext cx="5336347" cy="9193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52619" y="2898676"/>
            <a:ext cx="1532594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📝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CRUD de Questões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352619" y="3147516"/>
            <a:ext cx="4949404" cy="35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Criação, leitura, atualização e exclusão de questões objetivas e dissertativas com upload de imagens em 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public/uploads/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5250" y="3751263"/>
            <a:ext cx="5336248" cy="9193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46821" y="3906639"/>
            <a:ext cx="1515132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Busca e Filtros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946821" y="4155480"/>
            <a:ext cx="4949304" cy="35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Filtragem por tipo, status, gênero e subgênero. Cada usuário vê apenas as questões que criou (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id_usuario_criador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).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21048" y="3751263"/>
            <a:ext cx="5336347" cy="91936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52619" y="3906639"/>
            <a:ext cx="1888185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Configurações de Perfil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6352619" y="4155480"/>
            <a:ext cx="4949404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Página de configurações com atualização de perfil e alteração de senha.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300" y="1950740"/>
            <a:ext cx="3639947" cy="37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API Pública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734300" y="2542183"/>
            <a:ext cx="5195261" cy="35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Toda a comunicação entre frontend e backend é centralizada em 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public/api.php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As requisições usam 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credentials: 'include'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para manter a sessão ativa.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4300" y="3001665"/>
            <a:ext cx="5195261" cy="407491"/>
          </a:xfrm>
          <a:prstGeom prst="roundRect">
            <a:avLst>
              <a:gd name="adj" fmla="val 50199"/>
            </a:avLst>
          </a:prstGeom>
          <a:solidFill>
            <a:srgbClr val="02234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623" y="3192363"/>
            <a:ext cx="170454" cy="1363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7399" y="3115469"/>
            <a:ext cx="5225423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Base local: 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http://localhost/mais_portugues/public/api.php?rota=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268484" y="2562126"/>
            <a:ext cx="2553331" cy="885031"/>
          </a:xfrm>
          <a:prstGeom prst="roundRect">
            <a:avLst>
              <a:gd name="adj" fmla="val 23113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17507" y="2711152"/>
            <a:ext cx="1515132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POST 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?rota=login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910415" y="2562126"/>
            <a:ext cx="2553331" cy="885031"/>
          </a:xfrm>
          <a:prstGeom prst="roundRect">
            <a:avLst>
              <a:gd name="adj" fmla="val 23113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59437" y="2711152"/>
            <a:ext cx="2255285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GET 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?rota=usuarios&amp;acao=verificar_sessao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8484" y="3535759"/>
            <a:ext cx="2553331" cy="689372"/>
          </a:xfrm>
          <a:prstGeom prst="roundRect">
            <a:avLst>
              <a:gd name="adj" fmla="val 29673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17507" y="3684786"/>
            <a:ext cx="2255285" cy="391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GET 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?rota=questoes&amp;acao=listar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910415" y="3535759"/>
            <a:ext cx="2553331" cy="689372"/>
          </a:xfrm>
          <a:prstGeom prst="roundRect">
            <a:avLst>
              <a:gd name="adj" fmla="val 29673"/>
            </a:avLst>
          </a:prstGeom>
          <a:solidFill>
            <a:srgbClr val="0A081B"/>
          </a:solidFill>
          <a:ln w="12700">
            <a:solidFill>
              <a:srgbClr val="09123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59437" y="3684786"/>
            <a:ext cx="2255285" cy="391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POST 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?rota=questoes&amp;acao=salvar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68484" y="4313734"/>
            <a:ext cx="5195261" cy="493713"/>
          </a:xfrm>
          <a:prstGeom prst="roundRect">
            <a:avLst>
              <a:gd name="adj" fmla="val 41432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17507" y="4462760"/>
            <a:ext cx="2675764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POST 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?rota=questoes&amp;acao=deletar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699393"/>
            <a:ext cx="5038599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Segurança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734200" y="1536998"/>
            <a:ext cx="448358" cy="448370"/>
          </a:xfrm>
          <a:prstGeom prst="roundRect">
            <a:avLst>
              <a:gd name="adj" fmla="val 66680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71863" y="1605459"/>
            <a:ext cx="239825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Senhas Criptografadas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863" y="1995884"/>
            <a:ext cx="5513746" cy="932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Todas as senhas armazenadas com </a:t>
            </a:r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password_hash(PASSWORD_DEFAULT)</a:t>
            </a:r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nunca em texto puro.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34200" y="3307358"/>
            <a:ext cx="448358" cy="448370"/>
          </a:xfrm>
          <a:prstGeom prst="roundRect">
            <a:avLst>
              <a:gd name="adj" fmla="val 66680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863" y="3375819"/>
            <a:ext cx="222532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Prepared Statements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371863" y="3766245"/>
            <a:ext cx="5513746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Todas as queries ao banco usam prepared statements, prevenindo SQL Injection.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34200" y="4766766"/>
            <a:ext cx="448358" cy="448370"/>
          </a:xfrm>
          <a:prstGeom prst="roundRect">
            <a:avLst>
              <a:gd name="adj" fmla="val 66680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863" y="4835227"/>
            <a:ext cx="263548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Autenticação Obrigatória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371863" y="5225653"/>
            <a:ext cx="5513746" cy="932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Operações privadas exigem sessão válida. Buscar, editar e excluir validam a propriedade da questão via </a:t>
            </a:r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id_usuario_criador</a:t>
            </a:r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300" y="1065808"/>
            <a:ext cx="3798197" cy="37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Por Que MVC Importa?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7189" y="1621730"/>
            <a:ext cx="6897217" cy="28781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92046" y="1754371"/>
            <a:ext cx="1393975" cy="17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92046" y="1984382"/>
            <a:ext cx="2688192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Dados e regras; acesso ao MySQL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692154" y="2690971"/>
            <a:ext cx="1393975" cy="17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Controller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692154" y="2920982"/>
            <a:ext cx="2688193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Lógica da aplicação e processamento de API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692154" y="3657085"/>
            <a:ext cx="1393975" cy="17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View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692154" y="3887096"/>
            <a:ext cx="2688193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Interface do usuário em HTML e CSS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4300" y="4599583"/>
            <a:ext cx="11332681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arquitetura MVC separa responsabilidades, facilitando manutenção, testes e trabalho em equipe.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4300" y="4879181"/>
            <a:ext cx="3515232" cy="913011"/>
          </a:xfrm>
          <a:prstGeom prst="roundRect">
            <a:avLst>
              <a:gd name="adj" fmla="val 22404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9672" y="5034558"/>
            <a:ext cx="151513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Manutenibilidade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89672" y="5277048"/>
            <a:ext cx="3204487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Alterar a interface não afeta a lógica de negócio.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38132" y="4879181"/>
            <a:ext cx="3515332" cy="913011"/>
          </a:xfrm>
          <a:prstGeom prst="roundRect">
            <a:avLst>
              <a:gd name="adj" fmla="val 22404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93505" y="5034558"/>
            <a:ext cx="151513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Escalabilidade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493505" y="5277048"/>
            <a:ext cx="3204586" cy="35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Novas funcionalidades são adicionadas sem quebrar o existente.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942064" y="4879181"/>
            <a:ext cx="3515232" cy="913011"/>
          </a:xfrm>
          <a:prstGeom prst="roundRect">
            <a:avLst>
              <a:gd name="adj" fmla="val 22404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97436" y="5034558"/>
            <a:ext cx="151513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Trabalho em Equipe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097436" y="5277048"/>
            <a:ext cx="3204487" cy="35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 contribuidores trabalharam em paralelo com 26 branches sem conflitos críticos.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8038" y="620018"/>
            <a:ext cx="6093466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Conclusão &amp; Próximos Passos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038" y="1881882"/>
            <a:ext cx="5704439" cy="38019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63792" y="1474788"/>
            <a:ext cx="255997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 Que Foi Aprendido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963792" y="1865412"/>
            <a:ext cx="3416016" cy="2010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Arquitetura MVC aplicada em projeto real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Segurança web: hashing, prepared statements, sessões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API RESTful com rotas centralizadas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Trabalho colaborativo com Git (54 commits, 7 contributors)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CRUD completo com upload de arquivos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963792" y="4041279"/>
            <a:ext cx="3416016" cy="867767"/>
          </a:xfrm>
          <a:prstGeom prst="roundRect">
            <a:avLst>
              <a:gd name="adj" fmla="val 30344"/>
            </a:avLst>
          </a:prstGeom>
          <a:solidFill>
            <a:srgbClr val="183A1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306" y="4303911"/>
            <a:ext cx="219367" cy="175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34187" y="4217293"/>
            <a:ext cx="2670108" cy="515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Projeto atualizado em </a:t>
            </a:r>
            <a:pPr algn="l"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17/05/2026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Versão atual: </a:t>
            </a:r>
            <a:pPr algn="l"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v1.0.3-Alpha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963792" y="5074245"/>
            <a:ext cx="3416016" cy="1031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Documentação completa disponível em 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docs/INSTALACAO.md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MVC_DOCUMENTATION.md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 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TESTE_API.md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2026-06-17T11:47:15Z</dcterms:created>
  <dcterms:modified xsi:type="dcterms:W3CDTF">2026-06-17T11:47:15Z</dcterms:modified>
</cp:coreProperties>
</file>